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640080"/>
            <a:ext cx="1097280" cy="1097280"/>
          </a:xfrm>
          <a:prstGeom prst="ellipse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645920"/>
            <a:ext cx="594360" cy="594360"/>
          </a:xfrm>
          <a:prstGeom prst="ellipse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1828800"/>
            <a:ext cx="320040" cy="320040"/>
          </a:xfrm>
          <a:prstGeom prst="ellipse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2743200"/>
            <a:ext cx="1463040" cy="1463040"/>
          </a:xfrm>
          <a:prstGeom prst="ellipse">
            <a:avLst/>
          </a:prstGeom>
          <a:solidFill>
            <a:srgbClr val="1C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8869680" cy="1554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LINUX SIGNAL-BASED</a:t>
            </a:r>
            <a:br/>
            <a:r>
              <a:t>PROCESS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000" b="0">
                <a:solidFill>
                  <a:srgbClr val="B8D3EF"/>
                </a:solidFill>
                <a:latin typeface="Aptos"/>
              </a:defRPr>
            </a:pPr>
            <a:r>
              <a:t>A C-based Linux systems-programming utility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411480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800" b="1">
                <a:solidFill>
                  <a:srgbClr val="39BED2"/>
                </a:solidFill>
                <a:latin typeface="Aptos"/>
              </a:defRPr>
            </a:pPr>
            <a:r>
              <a:t>Project Group G-16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7132320" cy="11430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PENDRI SAIVARSHITH REDDY  •  2520030360</a:t>
            </a:r>
            <a:br/>
            <a:r>
              <a:t>GOPU BHARADWAJ REDDY  •  2520030533</a:t>
            </a:r>
            <a:br/>
            <a:r>
              <a:t>PEBBAIR SUSHANTH REDDY  •  2520030576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978408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200" b="0">
                <a:solidFill>
                  <a:srgbClr val="B8D3EF"/>
                </a:solidFill>
                <a:latin typeface="Aptos"/>
              </a:defRPr>
            </a:pPr>
            <a:r>
              <a:t>Operating Systems / Linux Systems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800" b="1">
                <a:solidFill>
                  <a:srgbClr val="12203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What the project is and what it demonstrates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492240" cy="1371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300" b="1">
                <a:solidFill>
                  <a:srgbClr val="12203A"/>
                </a:solidFill>
                <a:latin typeface="Aptos"/>
              </a:defRPr>
            </a:pPr>
            <a:r>
              <a:t>Our project is a command-line utility developed in C that controls and monitors a worker process on Linux using operating-system signals and system 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737360"/>
            <a:ext cx="3840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901952"/>
            <a:ext cx="351129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395728"/>
            <a:ext cx="3511296" cy="3931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C programming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063240"/>
            <a:ext cx="3840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3227832"/>
            <a:ext cx="351129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EA06E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721608"/>
            <a:ext cx="3511296" cy="3931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Linux operating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389120"/>
            <a:ext cx="3840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2" y="4553712"/>
            <a:ext cx="351129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F09C3A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5047488"/>
            <a:ext cx="3511296" cy="3931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Command-Line Interface (CLI)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6309360" cy="7772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Aptos"/>
              </a:defRPr>
            </a:pPr>
            <a:r>
              <a:t>Core idea: one utility brings common process-control operations and OS demonstrations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800" b="1">
                <a:solidFill>
                  <a:srgbClr val="1220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Why this utility 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488289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F09C3A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4882896" cy="254203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Managing processes through separate terminal commands can be inconvenient. It is harder to control a process, check its state, and keep a history of events in one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901952"/>
            <a:ext cx="488289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EA06E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395728"/>
            <a:ext cx="4882896" cy="254203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A single C-based command-line utility combines process creation, signal-based control, event logging, IPC demonstrations, memory demonstrations, and thread synchronization.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defRPr sz="1800" b="1">
                <a:solidFill>
                  <a:srgbClr val="12203A"/>
                </a:solidFill>
                <a:latin typeface="Aptos"/>
              </a:defRPr>
            </a:pPr>
            <a:r>
              <a:t>Goal: make process-control operations easier to demonstrate and understand.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800" b="1">
                <a:solidFill>
                  <a:srgbClr val="12203A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What we aim to achieve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Create and start a worker process.</a:t>
            </a:r>
          </a:p>
          <a:p>
            <a:pPr>
              <a:spcAft>
                <a:spcPts val="18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Pause and resume the process using Linux signals.</a:t>
            </a:r>
          </a:p>
          <a:p>
            <a:pPr>
              <a:spcAft>
                <a:spcPts val="18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Terminate the process gracefully or forcefully when needed.</a:t>
            </a:r>
          </a:p>
          <a:p>
            <a:pPr>
              <a:spcAft>
                <a:spcPts val="18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Monitor process behaviour and maintain an event log.</a:t>
            </a:r>
          </a:p>
          <a:p>
            <a:pPr>
              <a:spcAft>
                <a:spcPts val="18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Demonstrate important Linux OS concepts through C programs and system 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800" b="1">
                <a:solidFill>
                  <a:srgbClr val="12203A"/>
                </a:solidFill>
                <a:latin typeface="Aptos"/>
              </a:defRPr>
            </a:pPr>
            <a:r>
              <a:t>Process Control Using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Signals tell a process or the operating system how to react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21992"/>
            <a:ext cx="172821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715768"/>
            <a:ext cx="1728216" cy="1307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Create worker</a:t>
            </a:r>
            <a:br/>
            <a:br/>
            <a:r>
              <a:t>fork() / exec()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20574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2221992"/>
            <a:ext cx="172821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F09C3A"/>
                </a:solidFill>
                <a:latin typeface="Aptos"/>
              </a:defRPr>
            </a:pPr>
            <a:r>
              <a:t>PAUSE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15768"/>
            <a:ext cx="1728216" cy="1307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Stop temporarily</a:t>
            </a:r>
            <a:br/>
            <a:br/>
            <a:r>
              <a:t>SIGSTOP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0574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392" y="2221992"/>
            <a:ext cx="172821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EA06E"/>
                </a:solidFill>
                <a:latin typeface="Aptos"/>
              </a:defRPr>
            </a:pPr>
            <a:r>
              <a:t>RESUME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2715768"/>
            <a:ext cx="1728216" cy="1307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Continue execution</a:t>
            </a:r>
            <a:br/>
            <a:br/>
            <a:r>
              <a:t>SIGCONT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20574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1" y="2221992"/>
            <a:ext cx="172821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TERMINATE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1" y="2715768"/>
            <a:ext cx="1728216" cy="1307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Request graceful exit</a:t>
            </a:r>
            <a:br/>
            <a:br/>
            <a:r>
              <a:t>SIGTERM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20574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2221992"/>
            <a:ext cx="172821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BE4141"/>
                </a:solidFill>
                <a:latin typeface="Aptos"/>
              </a:defRPr>
            </a:pPr>
            <a:r>
              <a:t>FORCE 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2715768"/>
            <a:ext cx="1728216" cy="130759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Stop immediately</a:t>
            </a:r>
            <a:br/>
            <a:br/>
            <a:r>
              <a:t>SIGKILL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00600"/>
            <a:ext cx="10424160" cy="6858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Aptos"/>
              </a:defRPr>
            </a:pPr>
            <a:r>
              <a:t>Note: SIGKILL cannot be caught or ignored. SIGTERM allows the process to clean up before exiting.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800" b="1">
                <a:solidFill>
                  <a:srgbClr val="12203A"/>
                </a:solidFill>
                <a:latin typeface="Aptos"/>
              </a:defRPr>
            </a:pPr>
            <a:r>
              <a:t>Six Operating-System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The project connects practical code with OS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56232"/>
            <a:ext cx="277977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1. OS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50008"/>
            <a:ext cx="2779776" cy="8046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User program communicates with the Linux kernel through system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9164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856232"/>
            <a:ext cx="277977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EA06E"/>
                </a:solidFill>
                <a:latin typeface="Aptos"/>
              </a:defRPr>
            </a:pPr>
            <a:r>
              <a:t>2. Process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350008"/>
            <a:ext cx="2779776" cy="8046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Create, control, monitor, and terminate processes.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69164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1856232"/>
            <a:ext cx="277977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3. IPC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350008"/>
            <a:ext cx="2779776" cy="8046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Use mechanisms such as pipes for communication between processes.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822191"/>
            <a:ext cx="277977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4. Virtual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315968"/>
            <a:ext cx="2779776" cy="8046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Each process operates in its own virtual address space.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6576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3822191"/>
            <a:ext cx="277977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5. File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315968"/>
            <a:ext cx="2779776" cy="8046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Store and retrieve event information using files.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36576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2" y="3822191"/>
            <a:ext cx="277977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6. Concurrency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4315968"/>
            <a:ext cx="2779776" cy="8046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Coordinate threads and shared resources with synchronization.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800" b="1">
                <a:solidFill>
                  <a:srgbClr val="12203A"/>
                </a:solidFill>
                <a:latin typeface="Aptos"/>
              </a:defRPr>
            </a:pPr>
            <a:r>
              <a:t>How the Utility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Typical flow from user command to process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048256"/>
            <a:ext cx="502920" cy="502920"/>
          </a:xfrm>
          <a:prstGeom prst="ellipse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57400"/>
            <a:ext cx="2194560" cy="6400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defRPr sz="1600" b="1">
                <a:solidFill>
                  <a:srgbClr val="232D3C"/>
                </a:solidFill>
                <a:latin typeface="Aptos"/>
              </a:defRPr>
            </a:pPr>
            <a:r>
              <a:t>User selects an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0872" y="2048256"/>
            <a:ext cx="502920" cy="502920"/>
          </a:xfrm>
          <a:prstGeom prst="ellipse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121408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057400"/>
            <a:ext cx="2194560" cy="6400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defRPr sz="1600" b="1">
                <a:solidFill>
                  <a:srgbClr val="232D3C"/>
                </a:solidFill>
                <a:latin typeface="Aptos"/>
              </a:defRPr>
            </a:pPr>
            <a:r>
              <a:t>Controller receives the command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85632" y="2048256"/>
            <a:ext cx="502920" cy="502920"/>
          </a:xfrm>
          <a:prstGeom prst="ellipse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2121408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057400"/>
            <a:ext cx="2194560" cy="6400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defRPr sz="1600" b="1">
                <a:solidFill>
                  <a:srgbClr val="232D3C"/>
                </a:solidFill>
                <a:latin typeface="Aptos"/>
              </a:defRPr>
            </a:pPr>
            <a:r>
              <a:t>System call or signal is issued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3877056"/>
            <a:ext cx="502920" cy="502920"/>
          </a:xfrm>
          <a:prstGeom prst="ellipse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950208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886200"/>
            <a:ext cx="2194560" cy="6400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defRPr sz="1600" b="1">
                <a:solidFill>
                  <a:srgbClr val="232D3C"/>
                </a:solidFill>
                <a:latin typeface="Aptos"/>
              </a:defRPr>
            </a:pPr>
            <a:r>
              <a:t>Linux kernel handles the request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6576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90872" y="3877056"/>
            <a:ext cx="502920" cy="502920"/>
          </a:xfrm>
          <a:prstGeom prst="ellipse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3950208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886200"/>
            <a:ext cx="2194560" cy="6400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defRPr sz="1600" b="1">
                <a:solidFill>
                  <a:srgbClr val="232D3C"/>
                </a:solidFill>
                <a:latin typeface="Aptos"/>
              </a:defRPr>
            </a:pPr>
            <a:r>
              <a:t>Worker process changes 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6576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85632" y="3877056"/>
            <a:ext cx="502920" cy="502920"/>
          </a:xfrm>
          <a:prstGeom prst="ellipse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3950208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886200"/>
            <a:ext cx="2194560" cy="640080"/>
          </a:xfrm>
          <a:prstGeom prst="rect">
            <a:avLst/>
          </a:prstGeom>
          <a:noFill/>
        </p:spPr>
        <p:txBody>
          <a:bodyPr wrap="square" lIns="54864" rIns="54864" tIns="36576" bIns="27432" anchor="ctr">
            <a:spAutoFit/>
          </a:bodyPr>
          <a:lstStyle/>
          <a:p>
            <a:pPr algn="l">
              <a:defRPr sz="1600" b="1">
                <a:solidFill>
                  <a:srgbClr val="232D3C"/>
                </a:solidFill>
                <a:latin typeface="Aptos"/>
              </a:defRPr>
            </a:pPr>
            <a:r>
              <a:t>Result is displayed / logged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defRPr sz="1700" b="1">
                <a:solidFill>
                  <a:srgbClr val="12203A"/>
                </a:solidFill>
                <a:latin typeface="Aptos"/>
              </a:defRPr>
            </a:pPr>
            <a:r>
              <a:t>The controller sends the request; the Linux kernel performs the privileged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800" b="1">
                <a:solidFill>
                  <a:srgbClr val="12203A"/>
                </a:solidFill>
                <a:latin typeface="Aptos"/>
              </a:defRPr>
            </a:pPr>
            <a:r>
              <a:t>Important System Calls and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Examples used in a Linux C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834640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fork()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7406640" cy="4572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600" b="0">
                <a:solidFill>
                  <a:srgbClr val="232D3C"/>
                </a:solidFill>
                <a:latin typeface="Aptos"/>
              </a:defRPr>
            </a:pPr>
            <a:r>
              <a:t>Creates a child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2834640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exec()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59152"/>
            <a:ext cx="7406640" cy="4572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600" b="0">
                <a:solidFill>
                  <a:srgbClr val="232D3C"/>
                </a:solidFill>
                <a:latin typeface="Aptos"/>
              </a:defRPr>
            </a:pPr>
            <a:r>
              <a:t>Replaces a process image with another program.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72384"/>
            <a:ext cx="2834640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kill()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72384"/>
            <a:ext cx="7406640" cy="4572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600" b="0">
                <a:solidFill>
                  <a:srgbClr val="232D3C"/>
                </a:solidFill>
                <a:latin typeface="Aptos"/>
              </a:defRPr>
            </a:pPr>
            <a:r>
              <a:t>Sends a signal to a process; it can send signals other than SIGKILL.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2834640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wait() / waitpid()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85615"/>
            <a:ext cx="7406640" cy="4572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600" b="0">
                <a:solidFill>
                  <a:srgbClr val="232D3C"/>
                </a:solidFill>
                <a:latin typeface="Aptos"/>
              </a:defRPr>
            </a:pPr>
            <a:r>
              <a:t>Waits for a child process and collects its exit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98848"/>
            <a:ext cx="2834640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pipe() / read() / write()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98848"/>
            <a:ext cx="7406640" cy="4572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600" b="0">
                <a:solidFill>
                  <a:srgbClr val="232D3C"/>
                </a:solidFill>
                <a:latin typeface="Aptos"/>
              </a:defRPr>
            </a:pPr>
            <a:r>
              <a:t>Create a pipe and transfer data between processes.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2834640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pthread_mutex_*()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212080"/>
            <a:ext cx="7406640" cy="4572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600" b="0">
                <a:solidFill>
                  <a:srgbClr val="232D3C"/>
                </a:solidFill>
                <a:latin typeface="Aptos"/>
              </a:defRPr>
            </a:pPr>
            <a:r>
              <a:t>Provides mutual exclusion for shared data in threaded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800" b="1">
                <a:solidFill>
                  <a:srgbClr val="12203A"/>
                </a:solidFill>
                <a:latin typeface="Aptos"/>
              </a:defRPr>
            </a:pPr>
            <a:r>
              <a:t>Monitoring and Event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Keep a simple history of process-control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4937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47672"/>
            <a:ext cx="460857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469BE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441448"/>
            <a:ext cx="4608576" cy="2633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The utility can display information such as the worker process ID (PID) and the result of each control action. Process state can be checked using suitable Linux interfaces or commands.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783080"/>
            <a:ext cx="49377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947672"/>
            <a:ext cx="460857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EA06E"/>
                </a:solidFill>
                <a:latin typeface="Aptos"/>
              </a:defRPr>
            </a:pPr>
            <a:r>
              <a:t>Event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441448"/>
            <a:ext cx="4608576" cy="2633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A log file can record events such as process started, paused, resumed, termination requested, and process exited. Timestamps make the sequence easier to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42416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Aptos"/>
              </a:defRPr>
            </a:pPr>
            <a:r>
              <a:t>Example log entry:  [10:30:05] SIGCONT sent to worker PID 1234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COMMAND-LINE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78992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B8D3EF"/>
                </a:solidFill>
                <a:latin typeface="Aptos"/>
              </a:defRPr>
            </a:pPr>
            <a:r>
              <a:t>Illustrative commands — use the actual command names supported by your program.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6766560" cy="4023360"/>
          </a:xfrm>
          <a:prstGeom prst="roundRect">
            <a:avLst/>
          </a:prstGeom>
          <a:solidFill>
            <a:srgbClr val="1B2B46"/>
          </a:solidFill>
          <a:ln>
            <a:solidFill>
              <a:srgbClr val="3C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6217920" cy="32004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100" b="0">
                <a:solidFill>
                  <a:srgbClr val="92E7C2"/>
                </a:solidFill>
                <a:latin typeface="Consolas"/>
              </a:defRPr>
            </a:pPr>
            <a:r>
              <a:t> $ ./process_controller start</a:t>
            </a:r>
            <a:br/>
            <a:r>
              <a:t> $ ./process_controller status</a:t>
            </a:r>
            <a:br/>
            <a:r>
              <a:t> $ ./process_controller pause</a:t>
            </a:r>
            <a:br/>
            <a:r>
              <a:t> $ ./process_controller resume</a:t>
            </a:r>
            <a:br/>
            <a:r>
              <a:t> $ ./process_controller terminate</a:t>
            </a:r>
            <a:br/>
            <a:r>
              <a:t> $ ./process_controller 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301752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000" b="1">
                <a:solidFill>
                  <a:srgbClr val="39BED2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423160"/>
            <a:ext cx="3291840" cy="2560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Worker process responds to signals.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Status/results appear in the terminal.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Configured events are written to the log.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1069848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200" b="0">
                <a:solidFill>
                  <a:srgbClr val="B8D3EF"/>
                </a:solidFill>
                <a:latin typeface="Aptos"/>
              </a:defRPr>
            </a:pPr>
            <a:r>
              <a:t>Replace these examples with your implementation's exact CLI syntax before presenting.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800" b="1">
                <a:solidFill>
                  <a:srgbClr val="12203A"/>
                </a:solidFill>
                <a:latin typeface="Aptos"/>
              </a:defRPr>
            </a:pPr>
            <a:r>
              <a:t>Benefits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01952"/>
            <a:ext cx="474573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2EA06E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95728"/>
            <a:ext cx="4745736" cy="281635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• Centralizes common process-control actions</a:t>
            </a:r>
            <a:br/>
            <a:br/>
            <a:r>
              <a:t>• Demonstrates Linux signals and system calls</a:t>
            </a:r>
            <a:br/>
            <a:br/>
            <a:r>
              <a:t>• Makes events easier to inspect through logging</a:t>
            </a:r>
            <a:br/>
            <a:br/>
            <a:r>
              <a:t>• Supports practical OS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901952"/>
            <a:ext cx="4745736" cy="38404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700" b="1">
                <a:solidFill>
                  <a:srgbClr val="F09C3A"/>
                </a:solidFill>
                <a:latin typeface="Aptos"/>
              </a:defRPr>
            </a:pPr>
            <a:r>
              <a:t>Scope and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95728"/>
            <a:ext cx="4745736" cy="281635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300" b="0">
                <a:solidFill>
                  <a:srgbClr val="232D3C"/>
                </a:solidFill>
                <a:latin typeface="Aptos"/>
              </a:defRPr>
            </a:pPr>
            <a:r>
              <a:t>• Intended for controlled demonstrations</a:t>
            </a:r>
            <a:br/>
            <a:br/>
            <a:r>
              <a:t>• Signal permissions depend on user ownership and privileges</a:t>
            </a:r>
            <a:br/>
            <a:br/>
            <a:r>
              <a:t>• Use PIDs carefully to avoid affecting unrelated processes</a:t>
            </a:r>
            <a:br/>
            <a:br/>
            <a:r>
              <a:t>• Force-kill only when graceful termination is insufficient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515600" cy="5486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3000" b="1">
                <a:solidFill>
                  <a:srgbClr val="39BED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9966960" cy="1417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The Linux Signal-Based Process Controller demonstrates how a C program can interact with the Linux operating system to manage processes using signals and system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9784080" cy="10515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900" b="0">
                <a:solidFill>
                  <a:srgbClr val="B8D3EF"/>
                </a:solidFill>
                <a:latin typeface="Aptos"/>
              </a:defRPr>
            </a:pPr>
            <a:r>
              <a:t>It brings process control, monitoring, logging, IPC, virtual-memory concepts, file operations, and synchronization into one learning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4572000" cy="6400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97880"/>
            <a:ext cx="274320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>
              <a:defRPr sz="1500" b="1">
                <a:solidFill>
                  <a:srgbClr val="39BED2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